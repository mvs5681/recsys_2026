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total. This is my read of the conference: four themes, what ties them together, and a directional view of what it means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attended the delivery RecSys tutorial, three workshops and the paper sessions across three days. Everything grouped into these four themes. One line each, then a slide per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semantic ID is a short code path for an item, like [142, 37, 8]. Embed each prefix and sum them. A brand-new item still shares its coarse prefix with similar items, so it starts with a trained signal: that is cold start. A popular item gets its own detail from the deep prefix: that is hot start. One representation covers the whole range. Amap builds these IDs for 83.1 million places from four views of each place. Caveat from the tutorial if asked: today semantic IDs are used mostly for retrieval, not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relevance model trained only on history keeps recommending what it already knows, and the user ends up in a filter bubble. The Disney+ team asks a different question: what should I recommend to learn more about this user? They score each item by how much the model's picture of the user would change if the user engaged or did not. To make it practical they add one small head on the frozen model. The tutorial gave the metric to go with it: do not only track MRR, track trial rate and MRR on never-purchased items. Their own caution: recommending obscure items purely to learn can erode user trust, so blend it with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message I most want everyone to take away: there is more value in online testing than in polishing offline numbers. Three separate sessions said it. The reward optimizing tutorial defines the goal as business metrics measured at A/B test time. Google found traditional offline metrics barely correlate with online business objectives across more than 100 experiments. An academic study compared sparse offline evaluation with dense ground truth and could not tell whether better offline scores mean better recommendations. Another paper showed many reported gains shrink once tied scores are handled properly. If asked about the photo: Google raised the probability of a good decision from 36 to 65 percent by aligning offline measurement with online value, so offline still has a role as a filter before the A/B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practice tips I wrote down. Short tests and long-running tests show different behavior, so some effects only appear if we let the test run. Signals can be delayed: someone views an item and converts five days later, and a short test would miss it. Cross-over trials come from medicine: the same user gets treatment A, then a wash-out period, then treatment B, and we compare. The risk to watch is confounding when the treatments share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theme 1 matters for LLMs. An LLM cannot work with millions of arbitrary item IDs, but it can read and write a short token vocabulary. In Amap each place is three tokens. The prompt on the photo lists the user profile, the SID sequence of recent check-ins and the current context, and the response is the SID of the next place, which a lookup maps back to a real location. Training runs in three stages: continued pretraining that ties SIDs to geohash and description, supervised fine-tuning on the recommendation task, and a final preference alignment step that handles noisy exposure feedback. The speakers named better alignment between SID tokens and natural language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examples. LLM-PRIT transfers across platforms that share no users and no items by having an LLM write profiles offline; serving stays cheap because there are no LLM calls online, and their slide showed about one millisecond of added mean latency. YouTube runs a dual-loop system where an agent generates hypotheses and code changes for the watch page ranker and people review them; I noted this as a good idea for automating our own experiments. AgentRec treats choosing a model to fine-tune as a recommendation funnel, cheap signals first. And the keynote raised the question of agents booking and buying for users, which changes what we optimize for. From the conversational session: with vague users, turns accumulate but information does not, so assistants must adapt to how each user talks.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 is different from shopping because the user pays travel time, fuel and parking before finding out whether the recommendation was good, and those costs are not recoverable. The welfare talk models this as activity benefit minus travel cost and filters out recommendations likely to leave the user worse off. A related session added a safety score to next-place recommendations, noting travelers already ask LLM assistants for safe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direction, not a roadmap. Four ideas I think are worth carrying into our work. I am not committing to specifics today; over the next few weeks I will think through how each can be used in our day to day and come back with concrete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follow-ups from my notes. Happy to share the full notes and paper links with anyone who wants to go deeper on 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181D"/>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181D"/>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CONFERENCE TAKEAWAYS</a:t>
            </a:r>
            <a:endParaRPr lang="en-US" sz="1200" dirty="0"/>
          </a:p>
        </p:txBody>
      </p:sp>
      <p:sp>
        <p:nvSpPr>
          <p:cNvPr id="3" name="Text 1"/>
          <p:cNvSpPr/>
          <p:nvPr>
            <p:ph type="title"/>
          </p:nvPr>
        </p:nvSpPr>
        <p:spPr>
          <a:xfrm>
            <a:off x="812800" y="264289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16181D"/>
                </a:solidFill>
                <a:latin typeface="Public Sans" pitchFamily="34" charset="0"/>
                <a:ea typeface="Public Sans" pitchFamily="34" charset="-122"/>
                <a:cs typeface="Public Sans" pitchFamily="34" charset="-120"/>
              </a:rPr>
              <a:t>RecSys 2026</a:t>
            </a:r>
            <a:endParaRPr lang="en-US" sz="6000" dirty="0"/>
          </a:p>
        </p:txBody>
      </p:sp>
      <p:sp>
        <p:nvSpPr>
          <p:cNvPr id="4" name="Text 2"/>
          <p:cNvSpPr/>
          <p:nvPr/>
        </p:nvSpPr>
        <p:spPr>
          <a:xfrm>
            <a:off x="812800" y="3646190"/>
            <a:ext cx="71945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Lessons learned, personal takeaways and a first look at where they could take us.</a:t>
            </a:r>
            <a:endParaRPr lang="en-US" sz="16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Mohanish Sheth · 20th ACM Conference on Recommender Systems · Sep 29 to Oct 1,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OVERVIEW</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Four patterns across every session I attended</a:t>
            </a:r>
            <a:endParaRPr lang="en-US" sz="3200" dirty="0"/>
          </a:p>
        </p:txBody>
      </p:sp>
      <p:sp>
        <p:nvSpPr>
          <p:cNvPr id="4" name="Shape 2"/>
          <p:cNvSpPr/>
          <p:nvPr/>
        </p:nvSpPr>
        <p:spPr>
          <a:xfrm>
            <a:off x="812800" y="1984325"/>
            <a:ext cx="10566400" cy="0"/>
          </a:xfrm>
          <a:prstGeom prst="line">
            <a:avLst/>
          </a:prstGeom>
          <a:noFill/>
          <a:ln w="6350">
            <a:solidFill>
              <a:srgbClr val="D9D9D2"/>
            </a:solidFill>
            <a:prstDash val="solid"/>
          </a:ln>
        </p:spPr>
      </p:sp>
      <p:sp>
        <p:nvSpPr>
          <p:cNvPr id="5" name="Text 3"/>
          <p:cNvSpPr/>
          <p:nvPr/>
        </p:nvSpPr>
        <p:spPr>
          <a:xfrm>
            <a:off x="812800" y="2165300"/>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1</a:t>
            </a:r>
            <a:endParaRPr lang="en-US" sz="1600" dirty="0"/>
          </a:p>
        </p:txBody>
      </p:sp>
      <p:sp>
        <p:nvSpPr>
          <p:cNvPr id="6" name="Text 4"/>
          <p:cNvSpPr/>
          <p:nvPr/>
        </p:nvSpPr>
        <p:spPr>
          <a:xfrm>
            <a:off x="1524000" y="2165300"/>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Semantic IDs</a:t>
            </a:r>
            <a:endParaRPr lang="en-US" sz="1600" dirty="0"/>
          </a:p>
        </p:txBody>
      </p:sp>
      <p:sp>
        <p:nvSpPr>
          <p:cNvPr id="7" name="Text 5"/>
          <p:cNvSpPr/>
          <p:nvPr/>
        </p:nvSpPr>
        <p:spPr>
          <a:xfrm>
            <a:off x="5765800" y="2165300"/>
            <a:ext cx="57818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The path forward for cold, warm and hot start</a:t>
            </a:r>
            <a:endParaRPr lang="en-US" sz="1600" dirty="0"/>
          </a:p>
        </p:txBody>
      </p:sp>
      <p:sp>
        <p:nvSpPr>
          <p:cNvPr id="8" name="Shape 6"/>
          <p:cNvSpPr/>
          <p:nvPr/>
        </p:nvSpPr>
        <p:spPr>
          <a:xfrm>
            <a:off x="812800" y="2630736"/>
            <a:ext cx="10566400" cy="0"/>
          </a:xfrm>
          <a:prstGeom prst="line">
            <a:avLst/>
          </a:prstGeom>
          <a:noFill/>
          <a:ln w="6350">
            <a:solidFill>
              <a:srgbClr val="D9D9D2"/>
            </a:solidFill>
            <a:prstDash val="solid"/>
          </a:ln>
        </p:spPr>
      </p:sp>
      <p:sp>
        <p:nvSpPr>
          <p:cNvPr id="9" name="Text 7"/>
          <p:cNvSpPr/>
          <p:nvPr/>
        </p:nvSpPr>
        <p:spPr>
          <a:xfrm>
            <a:off x="812800" y="281171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2</a:t>
            </a:r>
            <a:endParaRPr lang="en-US" sz="1600" dirty="0"/>
          </a:p>
        </p:txBody>
      </p:sp>
      <p:sp>
        <p:nvSpPr>
          <p:cNvPr id="10" name="Text 8"/>
          <p:cNvSpPr/>
          <p:nvPr/>
        </p:nvSpPr>
        <p:spPr>
          <a:xfrm>
            <a:off x="1524000" y="2811711"/>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Recommend to learn</a:t>
            </a:r>
            <a:endParaRPr lang="en-US" sz="1600" dirty="0"/>
          </a:p>
        </p:txBody>
      </p:sp>
      <p:sp>
        <p:nvSpPr>
          <p:cNvPr id="11" name="Text 9"/>
          <p:cNvSpPr/>
          <p:nvPr/>
        </p:nvSpPr>
        <p:spPr>
          <a:xfrm>
            <a:off x="5765800" y="2811711"/>
            <a:ext cx="57818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Show items that teach us more about the user</a:t>
            </a:r>
            <a:endParaRPr lang="en-US" sz="1600" dirty="0"/>
          </a:p>
        </p:txBody>
      </p:sp>
      <p:sp>
        <p:nvSpPr>
          <p:cNvPr id="12" name="Shape 10"/>
          <p:cNvSpPr/>
          <p:nvPr/>
        </p:nvSpPr>
        <p:spPr>
          <a:xfrm>
            <a:off x="812800" y="3277146"/>
            <a:ext cx="10566400" cy="0"/>
          </a:xfrm>
          <a:prstGeom prst="line">
            <a:avLst/>
          </a:prstGeom>
          <a:noFill/>
          <a:ln w="6350">
            <a:solidFill>
              <a:srgbClr val="D9D9D2"/>
            </a:solidFill>
            <a:prstDash val="solid"/>
          </a:ln>
        </p:spPr>
      </p:sp>
      <p:sp>
        <p:nvSpPr>
          <p:cNvPr id="13" name="Text 11"/>
          <p:cNvSpPr/>
          <p:nvPr/>
        </p:nvSpPr>
        <p:spPr>
          <a:xfrm>
            <a:off x="812800" y="345812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3</a:t>
            </a:r>
            <a:endParaRPr lang="en-US" sz="1600" dirty="0"/>
          </a:p>
        </p:txBody>
      </p:sp>
      <p:sp>
        <p:nvSpPr>
          <p:cNvPr id="14" name="Text 12"/>
          <p:cNvSpPr/>
          <p:nvPr/>
        </p:nvSpPr>
        <p:spPr>
          <a:xfrm>
            <a:off x="1524000" y="3458121"/>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Measurement we can trust</a:t>
            </a:r>
            <a:endParaRPr lang="en-US" sz="1600" dirty="0"/>
          </a:p>
        </p:txBody>
      </p:sp>
      <p:sp>
        <p:nvSpPr>
          <p:cNvPr id="15" name="Text 13"/>
          <p:cNvSpPr/>
          <p:nvPr/>
        </p:nvSpPr>
        <p:spPr>
          <a:xfrm>
            <a:off x="5765800" y="3458121"/>
            <a:ext cx="57818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A/B testing is the gold standard for every release</a:t>
            </a:r>
            <a:endParaRPr lang="en-US" sz="1600" dirty="0"/>
          </a:p>
        </p:txBody>
      </p:sp>
      <p:sp>
        <p:nvSpPr>
          <p:cNvPr id="16" name="Shape 14"/>
          <p:cNvSpPr/>
          <p:nvPr/>
        </p:nvSpPr>
        <p:spPr>
          <a:xfrm>
            <a:off x="812800" y="3923556"/>
            <a:ext cx="10566400" cy="0"/>
          </a:xfrm>
          <a:prstGeom prst="line">
            <a:avLst/>
          </a:prstGeom>
          <a:noFill/>
          <a:ln w="6350">
            <a:solidFill>
              <a:srgbClr val="D9D9D2"/>
            </a:solidFill>
            <a:prstDash val="solid"/>
          </a:ln>
        </p:spPr>
      </p:sp>
      <p:sp>
        <p:nvSpPr>
          <p:cNvPr id="17" name="Shape 15"/>
          <p:cNvSpPr/>
          <p:nvPr/>
        </p:nvSpPr>
        <p:spPr>
          <a:xfrm>
            <a:off x="812800" y="4569966"/>
            <a:ext cx="10566400" cy="0"/>
          </a:xfrm>
          <a:prstGeom prst="line">
            <a:avLst/>
          </a:prstGeom>
          <a:noFill/>
          <a:ln w="6350">
            <a:solidFill>
              <a:srgbClr val="D9D9D2"/>
            </a:solidFill>
            <a:prstDash val="solid"/>
          </a:ln>
        </p:spPr>
      </p:sp>
      <p:sp>
        <p:nvSpPr>
          <p:cNvPr id="18" name="Text 16"/>
          <p:cNvSpPr/>
          <p:nvPr/>
        </p:nvSpPr>
        <p:spPr>
          <a:xfrm>
            <a:off x="812800" y="410453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4</a:t>
            </a:r>
            <a:endParaRPr lang="en-US" sz="1600" dirty="0"/>
          </a:p>
        </p:txBody>
      </p:sp>
      <p:sp>
        <p:nvSpPr>
          <p:cNvPr id="19" name="Text 17"/>
          <p:cNvSpPr/>
          <p:nvPr/>
        </p:nvSpPr>
        <p:spPr>
          <a:xfrm>
            <a:off x="1524000" y="4104531"/>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LLMs and agents</a:t>
            </a:r>
            <a:endParaRPr lang="en-US" sz="1600" dirty="0"/>
          </a:p>
        </p:txBody>
      </p:sp>
      <p:sp>
        <p:nvSpPr>
          <p:cNvPr id="20" name="Text 18"/>
          <p:cNvSpPr/>
          <p:nvPr/>
        </p:nvSpPr>
        <p:spPr>
          <a:xfrm>
            <a:off x="5765800" y="4104531"/>
            <a:ext cx="57818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Semantic IDs are the language LLMs use to recommend</a:t>
            </a:r>
            <a:endParaRPr lang="en-US" sz="1600" dirty="0"/>
          </a:p>
        </p:txBody>
      </p:sp>
      <p:sp>
        <p:nvSpPr>
          <p:cNvPr id="21" name="Text 19"/>
          <p:cNvSpPr/>
          <p:nvPr/>
        </p:nvSpPr>
        <p:spPr>
          <a:xfrm>
            <a:off x="812800" y="6238280"/>
            <a:ext cx="78845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Delivery RecSys tutorial, the CARS, OARS and RecTour workshops, paper and poster sessions</a:t>
            </a:r>
            <a:endParaRPr lang="en-US" sz="1200" dirty="0"/>
          </a:p>
        </p:txBody>
      </p:sp>
      <p:sp>
        <p:nvSpPr>
          <p:cNvPr id="22" name="Text 20"/>
          <p:cNvSpPr/>
          <p:nvPr/>
        </p:nvSpPr>
        <p:spPr>
          <a:xfrm>
            <a:off x="11237516" y="6238280"/>
            <a:ext cx="14168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THEME 1</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Semantic IDs are the path forward for cold, warm and hot start</a:t>
            </a:r>
            <a:endParaRPr lang="en-US" sz="3200" dirty="0"/>
          </a:p>
        </p:txBody>
      </p:sp>
      <p:sp>
        <p:nvSpPr>
          <p:cNvPr id="4" name="Text 2"/>
          <p:cNvSpPr/>
          <p:nvPr/>
        </p:nvSpPr>
        <p:spPr>
          <a:xfrm>
            <a:off x="812800" y="237738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DELIVERY RECSYS TUTORIAL</a:t>
            </a:r>
            <a:endParaRPr lang="en-US" sz="1200" dirty="0"/>
          </a:p>
        </p:txBody>
      </p:sp>
      <p:sp>
        <p:nvSpPr>
          <p:cNvPr id="5" name="Text 3"/>
          <p:cNvSpPr/>
          <p:nvPr/>
        </p:nvSpPr>
        <p:spPr>
          <a:xfrm>
            <a:off x="812800" y="2628801"/>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The same semantic ID can be a model input or output: score candidates we have, or generate new ones.</a:t>
            </a:r>
            <a:endParaRPr lang="en-US" sz="1600" dirty="0"/>
          </a:p>
        </p:txBody>
      </p:sp>
      <p:sp>
        <p:nvSpPr>
          <p:cNvPr id="6" name="Text 4"/>
          <p:cNvSpPr/>
          <p:nvPr/>
        </p:nvSpPr>
        <p:spPr>
          <a:xfrm>
            <a:off x="812800" y="3360241"/>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PREFIX N-GRAMS · COLD TO HOT</a:t>
            </a:r>
            <a:endParaRPr lang="en-US" sz="1200" dirty="0"/>
          </a:p>
        </p:txBody>
      </p:sp>
      <p:sp>
        <p:nvSpPr>
          <p:cNvPr id="7" name="Text 5"/>
          <p:cNvSpPr/>
          <p:nvPr/>
        </p:nvSpPr>
        <p:spPr>
          <a:xfrm>
            <a:off x="812800" y="3611662"/>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Coarse prefixes carry a shared, well-trained signal. Deep prefixes approach item-level memorization.</a:t>
            </a:r>
            <a:endParaRPr lang="en-US" sz="1600" dirty="0"/>
          </a:p>
        </p:txBody>
      </p:sp>
      <p:sp>
        <p:nvSpPr>
          <p:cNvPr id="8" name="Text 6"/>
          <p:cNvSpPr/>
          <p:nvPr/>
        </p:nvSpPr>
        <p:spPr>
          <a:xfrm>
            <a:off x="812800" y="4343102"/>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AMAP · 83.1M PLACES</a:t>
            </a:r>
            <a:endParaRPr lang="en-US" sz="1200" dirty="0"/>
          </a:p>
        </p:txBody>
      </p:sp>
      <p:sp>
        <p:nvSpPr>
          <p:cNvPr id="9" name="Text 7"/>
          <p:cNvSpPr/>
          <p:nvPr/>
        </p:nvSpPr>
        <p:spPr>
          <a:xfrm>
            <a:off x="812800" y="4594523"/>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Text, image, spatial and collaborative views fuse into one three-token ID.</a:t>
            </a:r>
            <a:endParaRPr lang="en-US" sz="1600" dirty="0"/>
          </a:p>
        </p:txBody>
      </p:sp>
      <p:pic>
        <p:nvPicPr>
          <p:cNvPr id="10" name="Image 0" descr="Tutorial slide: the same semantic ID can be a model input or output, scoring existing candidates or generating candidate addresses">    </p:cNvPr>
          <p:cNvPicPr>
            <a:picLocks noChangeAspect="1"/>
          </p:cNvPicPr>
          <p:nvPr/>
        </p:nvPicPr>
        <p:blipFill>
          <a:blip r:embed="rId1"/>
          <a:srcRect l="0" r="0" t="-99" b="-99"/>
          <a:stretch/>
        </p:blipFill>
        <p:spPr>
          <a:xfrm>
            <a:off x="6553200" y="2377380"/>
            <a:ext cx="4826000" cy="2514600"/>
          </a:xfrm>
          <a:prstGeom prst="rect">
            <a:avLst/>
          </a:prstGeom>
        </p:spPr>
      </p:pic>
      <p:sp>
        <p:nvSpPr>
          <p:cNvPr id="11" name="Text 8"/>
          <p:cNvSpPr/>
          <p:nvPr/>
        </p:nvSpPr>
        <p:spPr>
          <a:xfrm>
            <a:off x="812800" y="6238280"/>
            <a:ext cx="26186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Photo: Delivery RecSys tutorial</a:t>
            </a:r>
            <a:endParaRPr lang="en-US" sz="1200" dirty="0"/>
          </a:p>
        </p:txBody>
      </p:sp>
      <p:sp>
        <p:nvSpPr>
          <p:cNvPr id="12" name="Text 9"/>
          <p:cNvSpPr/>
          <p:nvPr/>
        </p:nvSpPr>
        <p:spPr>
          <a:xfrm>
            <a:off x="11232307" y="6238280"/>
            <a:ext cx="1468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THEME 2</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Recommend to learn: show items that teach us about the user</a:t>
            </a:r>
            <a:endParaRPr lang="en-US" sz="3200" dirty="0"/>
          </a:p>
        </p:txBody>
      </p:sp>
      <p:sp>
        <p:nvSpPr>
          <p:cNvPr id="4" name="Text 2"/>
          <p:cNvSpPr/>
          <p:nvPr/>
        </p:nvSpPr>
        <p:spPr>
          <a:xfrm>
            <a:off x="812800" y="237738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DISNEY+ · EPISTEMIC GAIN</a:t>
            </a:r>
            <a:endParaRPr lang="en-US" sz="1200" dirty="0"/>
          </a:p>
        </p:txBody>
      </p:sp>
      <p:sp>
        <p:nvSpPr>
          <p:cNvPr id="5" name="Text 3"/>
          <p:cNvSpPr/>
          <p:nvPr/>
        </p:nvSpPr>
        <p:spPr>
          <a:xfrm>
            <a:off x="812800" y="2628801"/>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The most valuable recommendation may be the one the system stands to learn the most from.</a:t>
            </a:r>
            <a:endParaRPr lang="en-US" sz="1600" dirty="0"/>
          </a:p>
        </p:txBody>
      </p:sp>
      <p:sp>
        <p:nvSpPr>
          <p:cNvPr id="6" name="Text 4"/>
          <p:cNvSpPr/>
          <p:nvPr/>
        </p:nvSpPr>
        <p:spPr>
          <a:xfrm>
            <a:off x="812800" y="3360241"/>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HOW THEY SHIP IT</a:t>
            </a:r>
            <a:endParaRPr lang="en-US" sz="1200" dirty="0"/>
          </a:p>
        </p:txBody>
      </p:sp>
      <p:sp>
        <p:nvSpPr>
          <p:cNvPr id="7" name="Text 5"/>
          <p:cNvSpPr/>
          <p:nvPr/>
        </p:nvSpPr>
        <p:spPr>
          <a:xfrm>
            <a:off x="812800" y="3611662"/>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One extra head on the frozen relevance model. Nothing about the base model changes.</a:t>
            </a:r>
            <a:endParaRPr lang="en-US" sz="1600" dirty="0"/>
          </a:p>
        </p:txBody>
      </p:sp>
      <p:sp>
        <p:nvSpPr>
          <p:cNvPr id="8" name="Text 6"/>
          <p:cNvSpPr/>
          <p:nvPr/>
        </p:nvSpPr>
        <p:spPr>
          <a:xfrm>
            <a:off x="812800" y="4343102"/>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DELIVERY RECSYS TUTORIAL</a:t>
            </a:r>
            <a:endParaRPr lang="en-US" sz="1200" dirty="0"/>
          </a:p>
        </p:txBody>
      </p:sp>
      <p:sp>
        <p:nvSpPr>
          <p:cNvPr id="9" name="Text 7"/>
          <p:cNvSpPr/>
          <p:nvPr/>
        </p:nvSpPr>
        <p:spPr>
          <a:xfrm>
            <a:off x="812800" y="4594523"/>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Measure it: trial rate, and MRR on items the user has never purchased.</a:t>
            </a:r>
            <a:endParaRPr lang="en-US" sz="1600" dirty="0"/>
          </a:p>
        </p:txBody>
      </p:sp>
      <p:pic>
        <p:nvPicPr>
          <p:cNvPr id="10" name="Image 0" descr="Closing slide of the Disney+ epistemic gain talk: the most valuable recommendation may not be the one likeliest to be engaged with, but rather the one which the system stands to learn the most from">    </p:cNvPr>
          <p:cNvPicPr>
            <a:picLocks noChangeAspect="1"/>
          </p:cNvPicPr>
          <p:nvPr/>
        </p:nvPicPr>
        <p:blipFill>
          <a:blip r:embed="rId1"/>
          <a:srcRect l="0" r="0" t="-58" b="-58"/>
          <a:stretch/>
        </p:blipFill>
        <p:spPr>
          <a:xfrm>
            <a:off x="6553200" y="2377380"/>
            <a:ext cx="4826000" cy="2717800"/>
          </a:xfrm>
          <a:prstGeom prst="rect">
            <a:avLst/>
          </a:prstGeom>
        </p:spPr>
      </p:pic>
      <p:sp>
        <p:nvSpPr>
          <p:cNvPr id="11" name="Text 8"/>
          <p:cNvSpPr/>
          <p:nvPr/>
        </p:nvSpPr>
        <p:spPr>
          <a:xfrm>
            <a:off x="812800" y="6238280"/>
            <a:ext cx="4952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Photo: Epistemic gain for latent interest discovery, Disney+</a:t>
            </a:r>
            <a:endParaRPr lang="en-US" sz="1200" dirty="0"/>
          </a:p>
        </p:txBody>
      </p:sp>
      <p:sp>
        <p:nvSpPr>
          <p:cNvPr id="12" name="Text 9"/>
          <p:cNvSpPr/>
          <p:nvPr/>
        </p:nvSpPr>
        <p:spPr>
          <a:xfrm>
            <a:off x="11232604" y="6238280"/>
            <a:ext cx="146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THEME 3</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A/B testing is the gold standard for every release</a:t>
            </a:r>
            <a:endParaRPr lang="en-US" sz="3200" dirty="0"/>
          </a:p>
        </p:txBody>
      </p:sp>
      <p:sp>
        <p:nvSpPr>
          <p:cNvPr id="4" name="Text 2"/>
          <p:cNvSpPr/>
          <p:nvPr/>
        </p:nvSpPr>
        <p:spPr>
          <a:xfrm>
            <a:off x="812800" y="193035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REWARD OPTIMIZING TUTORIAL</a:t>
            </a:r>
            <a:endParaRPr lang="en-US" sz="1200" dirty="0"/>
          </a:p>
        </p:txBody>
      </p:sp>
      <p:sp>
        <p:nvSpPr>
          <p:cNvPr id="5" name="Text 3"/>
          <p:cNvSpPr/>
          <p:nvPr/>
        </p:nvSpPr>
        <p:spPr>
          <a:xfrm>
            <a:off x="812800" y="2181771"/>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The target is business metrics as measured at A/B test time.</a:t>
            </a:r>
            <a:endParaRPr lang="en-US" sz="1600" dirty="0"/>
          </a:p>
        </p:txBody>
      </p:sp>
      <p:sp>
        <p:nvSpPr>
          <p:cNvPr id="6" name="Text 4"/>
          <p:cNvSpPr/>
          <p:nvPr/>
        </p:nvSpPr>
        <p:spPr>
          <a:xfrm>
            <a:off x="812800" y="2913211"/>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GOOGLE · 100+ EXPERIMENTS</a:t>
            </a:r>
            <a:endParaRPr lang="en-US" sz="1200" dirty="0"/>
          </a:p>
        </p:txBody>
      </p:sp>
      <p:sp>
        <p:nvSpPr>
          <p:cNvPr id="7" name="Text 5"/>
          <p:cNvSpPr/>
          <p:nvPr/>
        </p:nvSpPr>
        <p:spPr>
          <a:xfrm>
            <a:off x="812800" y="3164632"/>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Traditional offline metrics have minimal correlation to true online business objectives.</a:t>
            </a:r>
            <a:endParaRPr lang="en-US" sz="1600" dirty="0"/>
          </a:p>
        </p:txBody>
      </p:sp>
      <p:sp>
        <p:nvSpPr>
          <p:cNvPr id="8" name="Text 6"/>
          <p:cNvSpPr/>
          <p:nvPr/>
        </p:nvSpPr>
        <p:spPr>
          <a:xfrm>
            <a:off x="812800" y="3896072"/>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OFFLINE EVALUATION STUDY</a:t>
            </a:r>
            <a:endParaRPr lang="en-US" sz="1200" dirty="0"/>
          </a:p>
        </p:txBody>
      </p:sp>
      <p:sp>
        <p:nvSpPr>
          <p:cNvPr id="9" name="Text 7"/>
          <p:cNvSpPr/>
          <p:nvPr/>
        </p:nvSpPr>
        <p:spPr>
          <a:xfrm>
            <a:off x="812800" y="4147493"/>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We don't know if better offline scores reflect true user preferences or just the biases of the evaluation setup.</a:t>
            </a:r>
            <a:endParaRPr lang="en-US" sz="1600" dirty="0"/>
          </a:p>
        </p:txBody>
      </p:sp>
      <p:pic>
        <p:nvPicPr>
          <p:cNvPr id="10" name="Image 0" descr="Google talk introduction slide: traditional offline metrics have minimal correlation to true online business objectives; validated with 100+ Google-scale experiments; probability of good decision 36% to 65%">    </p:cNvPr>
          <p:cNvPicPr>
            <a:picLocks noChangeAspect="1"/>
          </p:cNvPicPr>
          <p:nvPr/>
        </p:nvPicPr>
        <p:blipFill>
          <a:blip r:embed="rId1"/>
          <a:srcRect l="0" r="0" t="-58" b="-58"/>
          <a:stretch/>
        </p:blipFill>
        <p:spPr>
          <a:xfrm>
            <a:off x="6553200" y="1930350"/>
            <a:ext cx="4826000" cy="2717800"/>
          </a:xfrm>
          <a:prstGeom prst="rect">
            <a:avLst/>
          </a:prstGeom>
        </p:spPr>
      </p:pic>
      <p:sp>
        <p:nvSpPr>
          <p:cNvPr id="11" name="Text 8"/>
          <p:cNvSpPr/>
          <p:nvPr/>
        </p:nvSpPr>
        <p:spPr>
          <a:xfrm>
            <a:off x="812800" y="6238280"/>
            <a:ext cx="7233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Photo: A Framework for Value-Aligned Modeling and Robust Experimentation, Google</a:t>
            </a:r>
            <a:endParaRPr lang="en-US" sz="1200" dirty="0"/>
          </a:p>
        </p:txBody>
      </p:sp>
      <p:sp>
        <p:nvSpPr>
          <p:cNvPr id="12" name="Text 9"/>
          <p:cNvSpPr/>
          <p:nvPr/>
        </p:nvSpPr>
        <p:spPr>
          <a:xfrm>
            <a:off x="11230769" y="6238280"/>
            <a:ext cx="14843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THEME 3 · IN PRACTICE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How to run A/B tests we can trust</a:t>
            </a:r>
            <a:endParaRPr lang="en-US" sz="3200" dirty="0"/>
          </a:p>
        </p:txBody>
      </p:sp>
      <p:sp>
        <p:nvSpPr>
          <p:cNvPr id="4" name="Shape 2"/>
          <p:cNvSpPr/>
          <p:nvPr/>
        </p:nvSpPr>
        <p:spPr>
          <a:xfrm>
            <a:off x="812800" y="1933525"/>
            <a:ext cx="10566400" cy="0"/>
          </a:xfrm>
          <a:prstGeom prst="line">
            <a:avLst/>
          </a:prstGeom>
          <a:noFill/>
          <a:ln w="6350">
            <a:solidFill>
              <a:srgbClr val="D9D9D2"/>
            </a:solidFill>
            <a:prstDash val="solid"/>
          </a:ln>
        </p:spPr>
      </p:sp>
      <p:sp>
        <p:nvSpPr>
          <p:cNvPr id="5" name="Text 3"/>
          <p:cNvSpPr/>
          <p:nvPr/>
        </p:nvSpPr>
        <p:spPr>
          <a:xfrm>
            <a:off x="812800" y="2089100"/>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Run long</a:t>
            </a:r>
            <a:endParaRPr lang="en-US" sz="1600" dirty="0"/>
          </a:p>
        </p:txBody>
      </p:sp>
      <p:sp>
        <p:nvSpPr>
          <p:cNvPr id="6" name="Text 4"/>
          <p:cNvSpPr/>
          <p:nvPr/>
        </p:nvSpPr>
        <p:spPr>
          <a:xfrm>
            <a:off x="3784600" y="2089100"/>
            <a:ext cx="78224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Certain behavior only shows in long-running A/B tests.</a:t>
            </a:r>
            <a:endParaRPr lang="en-US" sz="1600" dirty="0"/>
          </a:p>
        </p:txBody>
      </p:sp>
      <p:sp>
        <p:nvSpPr>
          <p:cNvPr id="7" name="Shape 5"/>
          <p:cNvSpPr/>
          <p:nvPr/>
        </p:nvSpPr>
        <p:spPr>
          <a:xfrm>
            <a:off x="812800" y="2529136"/>
            <a:ext cx="10566400" cy="0"/>
          </a:xfrm>
          <a:prstGeom prst="line">
            <a:avLst/>
          </a:prstGeom>
          <a:noFill/>
          <a:ln w="6350">
            <a:solidFill>
              <a:srgbClr val="D9D9D2"/>
            </a:solidFill>
            <a:prstDash val="solid"/>
          </a:ln>
        </p:spPr>
      </p:sp>
      <p:sp>
        <p:nvSpPr>
          <p:cNvPr id="8" name="Text 6"/>
          <p:cNvSpPr/>
          <p:nvPr/>
        </p:nvSpPr>
        <p:spPr>
          <a:xfrm>
            <a:off x="812800" y="268471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Wait for delayed signals</a:t>
            </a:r>
            <a:endParaRPr lang="en-US" sz="1600" dirty="0"/>
          </a:p>
        </p:txBody>
      </p:sp>
      <p:sp>
        <p:nvSpPr>
          <p:cNvPr id="9" name="Text 7"/>
          <p:cNvSpPr/>
          <p:nvPr/>
        </p:nvSpPr>
        <p:spPr>
          <a:xfrm>
            <a:off x="3784600" y="2684711"/>
            <a:ext cx="78224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A user views an item first, then converts five days later.</a:t>
            </a:r>
            <a:endParaRPr lang="en-US" sz="1600" dirty="0"/>
          </a:p>
        </p:txBody>
      </p:sp>
      <p:sp>
        <p:nvSpPr>
          <p:cNvPr id="10" name="Shape 8"/>
          <p:cNvSpPr/>
          <p:nvPr/>
        </p:nvSpPr>
        <p:spPr>
          <a:xfrm>
            <a:off x="812800" y="3124746"/>
            <a:ext cx="10566400" cy="0"/>
          </a:xfrm>
          <a:prstGeom prst="line">
            <a:avLst/>
          </a:prstGeom>
          <a:noFill/>
          <a:ln w="6350">
            <a:solidFill>
              <a:srgbClr val="D9D9D2"/>
            </a:solidFill>
            <a:prstDash val="solid"/>
          </a:ln>
        </p:spPr>
      </p:sp>
      <p:sp>
        <p:nvSpPr>
          <p:cNvPr id="11" name="Text 9"/>
          <p:cNvSpPr/>
          <p:nvPr/>
        </p:nvSpPr>
        <p:spPr>
          <a:xfrm>
            <a:off x="812800" y="328032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Account for new users</a:t>
            </a:r>
            <a:endParaRPr lang="en-US" sz="1600" dirty="0"/>
          </a:p>
        </p:txBody>
      </p:sp>
      <p:sp>
        <p:nvSpPr>
          <p:cNvPr id="12" name="Text 10"/>
          <p:cNvSpPr/>
          <p:nvPr/>
        </p:nvSpPr>
        <p:spPr>
          <a:xfrm>
            <a:off x="3784600" y="3280321"/>
            <a:ext cx="78224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First-time users (FTU) are part of the test setup.</a:t>
            </a:r>
            <a:endParaRPr lang="en-US" sz="1600" dirty="0"/>
          </a:p>
        </p:txBody>
      </p:sp>
      <p:sp>
        <p:nvSpPr>
          <p:cNvPr id="13" name="Shape 11"/>
          <p:cNvSpPr/>
          <p:nvPr/>
        </p:nvSpPr>
        <p:spPr>
          <a:xfrm>
            <a:off x="812800" y="3720356"/>
            <a:ext cx="10566400" cy="0"/>
          </a:xfrm>
          <a:prstGeom prst="line">
            <a:avLst/>
          </a:prstGeom>
          <a:noFill/>
          <a:ln w="6350">
            <a:solidFill>
              <a:srgbClr val="D9D9D2"/>
            </a:solidFill>
            <a:prstDash val="solid"/>
          </a:ln>
        </p:spPr>
      </p:sp>
      <p:sp>
        <p:nvSpPr>
          <p:cNvPr id="14" name="Text 12"/>
          <p:cNvSpPr/>
          <p:nvPr/>
        </p:nvSpPr>
        <p:spPr>
          <a:xfrm>
            <a:off x="812800" y="387593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Borrow cross-over trials</a:t>
            </a:r>
            <a:endParaRPr lang="en-US" sz="1600" dirty="0"/>
          </a:p>
        </p:txBody>
      </p:sp>
      <p:sp>
        <p:nvSpPr>
          <p:cNvPr id="15" name="Text 13"/>
          <p:cNvSpPr/>
          <p:nvPr/>
        </p:nvSpPr>
        <p:spPr>
          <a:xfrm>
            <a:off x="3784600" y="3875931"/>
            <a:ext cx="78224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User, treatment A, wash-out, treatment B, then compare A and B.</a:t>
            </a:r>
            <a:endParaRPr lang="en-US" sz="1600" dirty="0"/>
          </a:p>
        </p:txBody>
      </p:sp>
      <p:sp>
        <p:nvSpPr>
          <p:cNvPr id="16" name="Shape 14"/>
          <p:cNvSpPr/>
          <p:nvPr/>
        </p:nvSpPr>
        <p:spPr>
          <a:xfrm>
            <a:off x="812800" y="4315966"/>
            <a:ext cx="10566400" cy="0"/>
          </a:xfrm>
          <a:prstGeom prst="line">
            <a:avLst/>
          </a:prstGeom>
          <a:noFill/>
          <a:ln w="6350">
            <a:solidFill>
              <a:srgbClr val="D9D9D2"/>
            </a:solidFill>
            <a:prstDash val="solid"/>
          </a:ln>
        </p:spPr>
      </p:sp>
      <p:sp>
        <p:nvSpPr>
          <p:cNvPr id="17" name="Shape 15"/>
          <p:cNvSpPr/>
          <p:nvPr/>
        </p:nvSpPr>
        <p:spPr>
          <a:xfrm>
            <a:off x="812800" y="4911576"/>
            <a:ext cx="10566400" cy="0"/>
          </a:xfrm>
          <a:prstGeom prst="line">
            <a:avLst/>
          </a:prstGeom>
          <a:noFill/>
          <a:ln w="6350">
            <a:solidFill>
              <a:srgbClr val="D9D9D2"/>
            </a:solidFill>
            <a:prstDash val="solid"/>
          </a:ln>
        </p:spPr>
      </p:sp>
      <p:sp>
        <p:nvSpPr>
          <p:cNvPr id="18" name="Text 16"/>
          <p:cNvSpPr/>
          <p:nvPr/>
        </p:nvSpPr>
        <p:spPr>
          <a:xfrm>
            <a:off x="812800" y="447154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Watch for confounding</a:t>
            </a:r>
            <a:endParaRPr lang="en-US" sz="1600" dirty="0"/>
          </a:p>
        </p:txBody>
      </p:sp>
      <p:sp>
        <p:nvSpPr>
          <p:cNvPr id="19" name="Text 17"/>
          <p:cNvSpPr/>
          <p:nvPr/>
        </p:nvSpPr>
        <p:spPr>
          <a:xfrm>
            <a:off x="3784600" y="4471541"/>
            <a:ext cx="78224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Shared training across treatments violates the comparison.</a:t>
            </a:r>
            <a:endParaRPr lang="en-US" sz="1600" dirty="0"/>
          </a:p>
        </p:txBody>
      </p:sp>
      <p:sp>
        <p:nvSpPr>
          <p:cNvPr id="20" name="Text 18"/>
          <p:cNvSpPr/>
          <p:nvPr/>
        </p:nvSpPr>
        <p:spPr>
          <a:xfrm>
            <a:off x="812800" y="6238280"/>
            <a:ext cx="71612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Sources: Delivery RecSys tutorial · Reward optimizing recommender systems tutorial</a:t>
            </a:r>
            <a:endParaRPr lang="en-US" sz="1200" dirty="0"/>
          </a:p>
        </p:txBody>
      </p:sp>
      <p:sp>
        <p:nvSpPr>
          <p:cNvPr id="21" name="Text 19"/>
          <p:cNvSpPr/>
          <p:nvPr/>
        </p:nvSpPr>
        <p:spPr>
          <a:xfrm>
            <a:off x="11233497" y="6238280"/>
            <a:ext cx="14570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THEME 4</a:t>
            </a:r>
            <a:endParaRPr lang="en-US" sz="1200" dirty="0"/>
          </a:p>
        </p:txBody>
      </p:sp>
      <p:sp>
        <p:nvSpPr>
          <p:cNvPr id="3" name="Text 1"/>
          <p:cNvSpPr/>
          <p:nvPr>
            <p:ph type="title"/>
          </p:nvPr>
        </p:nvSpPr>
        <p:spPr>
          <a:xfrm>
            <a:off x="812800" y="1127720"/>
            <a:ext cx="11379200"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Semantic IDs are the language LLMs use to recommend</a:t>
            </a:r>
            <a:endParaRPr lang="en-US" sz="3200" dirty="0"/>
          </a:p>
        </p:txBody>
      </p:sp>
      <p:sp>
        <p:nvSpPr>
          <p:cNvPr id="4" name="Text 2"/>
          <p:cNvSpPr/>
          <p:nvPr/>
        </p:nvSpPr>
        <p:spPr>
          <a:xfrm>
            <a:off x="812800" y="193035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AMAP · SIDS IN, SID OUT</a:t>
            </a:r>
            <a:endParaRPr lang="en-US" sz="1200" dirty="0"/>
          </a:p>
        </p:txBody>
      </p:sp>
      <p:sp>
        <p:nvSpPr>
          <p:cNvPr id="5" name="Text 3"/>
          <p:cNvSpPr/>
          <p:nvPr/>
        </p:nvSpPr>
        <p:spPr>
          <a:xfrm>
            <a:off x="812800" y="2181771"/>
            <a:ext cx="5494020"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The prompt carries the user's recent check-ins as a SID sequence. The LLM answers with the SID of the next place.</a:t>
            </a:r>
            <a:endParaRPr lang="en-US" sz="1600" dirty="0"/>
          </a:p>
        </p:txBody>
      </p:sp>
      <p:sp>
        <p:nvSpPr>
          <p:cNvPr id="6" name="Text 4"/>
          <p:cNvSpPr/>
          <p:nvPr/>
        </p:nvSpPr>
        <p:spPr>
          <a:xfrm>
            <a:off x="812800" y="3177332"/>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AMAP · THREE-STAGE TRAINING</a:t>
            </a:r>
            <a:endParaRPr lang="en-US" sz="1200" dirty="0"/>
          </a:p>
        </p:txBody>
      </p:sp>
      <p:sp>
        <p:nvSpPr>
          <p:cNvPr id="7" name="Text 5"/>
          <p:cNvSpPr/>
          <p:nvPr/>
        </p:nvSpPr>
        <p:spPr>
          <a:xfrm>
            <a:off x="812800" y="3428752"/>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Align SIDs with location and description, fine-tune on the task, then align to real preferences.</a:t>
            </a:r>
            <a:endParaRPr lang="en-US" sz="1600" dirty="0"/>
          </a:p>
        </p:txBody>
      </p:sp>
      <p:sp>
        <p:nvSpPr>
          <p:cNvPr id="8" name="Text 6"/>
          <p:cNvSpPr/>
          <p:nvPr/>
        </p:nvSpPr>
        <p:spPr>
          <a:xfrm>
            <a:off x="812800" y="4160193"/>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DELIVERY RECSYS TUTORIAL</a:t>
            </a:r>
            <a:endParaRPr lang="en-US" sz="1200" dirty="0"/>
          </a:p>
        </p:txBody>
      </p:sp>
      <p:sp>
        <p:nvSpPr>
          <p:cNvPr id="9" name="Text 7"/>
          <p:cNvSpPr/>
          <p:nvPr/>
        </p:nvSpPr>
        <p:spPr>
          <a:xfrm>
            <a:off x="812800" y="4411613"/>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Each token depends on context and earlier tokens. Codes map back to catalog listings.</a:t>
            </a:r>
            <a:endParaRPr lang="en-US" sz="1600" dirty="0"/>
          </a:p>
        </p:txBody>
      </p:sp>
      <p:pic>
        <p:nvPicPr>
          <p:cNvPr id="10" name="Image 0" descr="Amap talk slide: three-stage post-training adapts the LLM for next-POI recommendation, with a prompt and response example built on semantic IDs">    </p:cNvPr>
          <p:cNvPicPr>
            <a:picLocks noChangeAspect="1"/>
          </p:cNvPicPr>
          <p:nvPr/>
        </p:nvPicPr>
        <p:blipFill>
          <a:blip r:embed="rId1"/>
          <a:srcRect l="0" r="0" t="-58" b="-58"/>
          <a:stretch/>
        </p:blipFill>
        <p:spPr>
          <a:xfrm>
            <a:off x="6553200" y="1930350"/>
            <a:ext cx="4826000" cy="2717800"/>
          </a:xfrm>
          <a:prstGeom prst="rect">
            <a:avLst/>
          </a:prstGeom>
        </p:spPr>
      </p:pic>
      <p:sp>
        <p:nvSpPr>
          <p:cNvPr id="11" name="Text 8"/>
          <p:cNvSpPr/>
          <p:nvPr/>
        </p:nvSpPr>
        <p:spPr>
          <a:xfrm>
            <a:off x="812800" y="6238280"/>
            <a:ext cx="63219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Photo: Guess Where You Go, generative next-POI recommendation in Amap</a:t>
            </a:r>
            <a:endParaRPr lang="en-US" sz="1200" dirty="0"/>
          </a:p>
        </p:txBody>
      </p:sp>
      <p:sp>
        <p:nvSpPr>
          <p:cNvPr id="12" name="Text 9"/>
          <p:cNvSpPr/>
          <p:nvPr/>
        </p:nvSpPr>
        <p:spPr>
          <a:xfrm>
            <a:off x="11236821" y="6238280"/>
            <a:ext cx="14237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THEME 4 · IN PRACTICE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Where LLMs and agents are already doing the work</a:t>
            </a:r>
            <a:endParaRPr lang="en-US" sz="3200" dirty="0"/>
          </a:p>
        </p:txBody>
      </p:sp>
      <p:sp>
        <p:nvSpPr>
          <p:cNvPr id="4" name="Shape 2"/>
          <p:cNvSpPr/>
          <p:nvPr/>
        </p:nvSpPr>
        <p:spPr>
          <a:xfrm>
            <a:off x="812800" y="1933525"/>
            <a:ext cx="10566400" cy="0"/>
          </a:xfrm>
          <a:prstGeom prst="line">
            <a:avLst/>
          </a:prstGeom>
          <a:noFill/>
          <a:ln w="6350">
            <a:solidFill>
              <a:srgbClr val="D9D9D2"/>
            </a:solidFill>
            <a:prstDash val="solid"/>
          </a:ln>
        </p:spPr>
      </p:sp>
      <p:sp>
        <p:nvSpPr>
          <p:cNvPr id="5" name="Text 3"/>
          <p:cNvSpPr/>
          <p:nvPr/>
        </p:nvSpPr>
        <p:spPr>
          <a:xfrm>
            <a:off x="812800" y="2063700"/>
            <a:ext cx="274701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Cold start</a:t>
            </a:r>
            <a:endParaRPr lang="en-US" sz="1600" dirty="0"/>
          </a:p>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LLM-PRIT</a:t>
            </a:r>
            <a:endParaRPr lang="en-US" sz="1600" dirty="0"/>
          </a:p>
        </p:txBody>
      </p:sp>
      <p:sp>
        <p:nvSpPr>
          <p:cNvPr id="6" name="Text 4"/>
          <p:cNvSpPr/>
          <p:nvPr/>
        </p:nvSpPr>
        <p:spPr>
          <a:xfrm>
            <a:off x="3784600" y="2070050"/>
            <a:ext cx="78224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F57"/>
                </a:solidFill>
                <a:latin typeface="Public Sans" pitchFamily="34" charset="0"/>
                <a:ea typeface="Public Sans" pitchFamily="34" charset="-122"/>
                <a:cs typeface="Public Sans" pitchFamily="34" charset="-120"/>
              </a:rPr>
              <a:t>No shared users, no shared items. LLM profiles are built offline, with no LLM calls in the online prediction path.</a:t>
            </a:r>
            <a:endParaRPr lang="en-US" sz="1600" dirty="0"/>
          </a:p>
        </p:txBody>
      </p:sp>
      <p:sp>
        <p:nvSpPr>
          <p:cNvPr id="7" name="Shape 5"/>
          <p:cNvSpPr/>
          <p:nvPr/>
        </p:nvSpPr>
        <p:spPr>
          <a:xfrm>
            <a:off x="812800" y="2762796"/>
            <a:ext cx="10566400" cy="0"/>
          </a:xfrm>
          <a:prstGeom prst="line">
            <a:avLst/>
          </a:prstGeom>
          <a:noFill/>
          <a:ln w="6350">
            <a:solidFill>
              <a:srgbClr val="D9D9D2"/>
            </a:solidFill>
            <a:prstDash val="solid"/>
          </a:ln>
        </p:spPr>
      </p:sp>
      <p:sp>
        <p:nvSpPr>
          <p:cNvPr id="8" name="Text 6"/>
          <p:cNvSpPr/>
          <p:nvPr/>
        </p:nvSpPr>
        <p:spPr>
          <a:xfrm>
            <a:off x="812800" y="2892971"/>
            <a:ext cx="274701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Self-evolving ranker</a:t>
            </a:r>
            <a:endParaRPr lang="en-US" sz="1600" dirty="0"/>
          </a:p>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YouTube</a:t>
            </a:r>
            <a:endParaRPr lang="en-US" sz="1600" dirty="0"/>
          </a:p>
        </p:txBody>
      </p:sp>
      <p:sp>
        <p:nvSpPr>
          <p:cNvPr id="9" name="Text 7"/>
          <p:cNvSpPr/>
          <p:nvPr/>
        </p:nvSpPr>
        <p:spPr>
          <a:xfrm>
            <a:off x="3784600" y="2899321"/>
            <a:ext cx="78224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F57"/>
                </a:solidFill>
                <a:latin typeface="Public Sans" pitchFamily="34" charset="0"/>
                <a:ea typeface="Public Sans" pitchFamily="34" charset="-122"/>
                <a:cs typeface="Public Sans" pitchFamily="34" charset="-120"/>
              </a:rPr>
              <a:t>A Gemini-powered agent proposes reward changes that traditionally take an engineer several months of work.</a:t>
            </a:r>
            <a:endParaRPr lang="en-US" sz="1600" dirty="0"/>
          </a:p>
        </p:txBody>
      </p:sp>
      <p:sp>
        <p:nvSpPr>
          <p:cNvPr id="10" name="Shape 8"/>
          <p:cNvSpPr/>
          <p:nvPr/>
        </p:nvSpPr>
        <p:spPr>
          <a:xfrm>
            <a:off x="812800" y="3592066"/>
            <a:ext cx="10566400" cy="0"/>
          </a:xfrm>
          <a:prstGeom prst="line">
            <a:avLst/>
          </a:prstGeom>
          <a:noFill/>
          <a:ln w="6350">
            <a:solidFill>
              <a:srgbClr val="D9D9D2"/>
            </a:solidFill>
            <a:prstDash val="solid"/>
          </a:ln>
        </p:spPr>
      </p:sp>
      <p:sp>
        <p:nvSpPr>
          <p:cNvPr id="11" name="Text 9"/>
          <p:cNvSpPr/>
          <p:nvPr/>
        </p:nvSpPr>
        <p:spPr>
          <a:xfrm>
            <a:off x="812800" y="3722241"/>
            <a:ext cx="274701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Model selection</a:t>
            </a:r>
            <a:endParaRPr lang="en-US" sz="1600" dirty="0"/>
          </a:p>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AgentRec</a:t>
            </a:r>
            <a:endParaRPr lang="en-US" sz="1600" dirty="0"/>
          </a:p>
        </p:txBody>
      </p:sp>
      <p:sp>
        <p:nvSpPr>
          <p:cNvPr id="12" name="Text 10"/>
          <p:cNvSpPr/>
          <p:nvPr/>
        </p:nvSpPr>
        <p:spPr>
          <a:xfrm>
            <a:off x="3784600" y="3728591"/>
            <a:ext cx="78224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F57"/>
                </a:solidFill>
                <a:latin typeface="Public Sans" pitchFamily="34" charset="0"/>
                <a:ea typeface="Public Sans" pitchFamily="34" charset="-122"/>
                <a:cs typeface="Public Sans" pitchFamily="34" charset="-120"/>
              </a:rPr>
              <a:t>An agent picks which LLM to fine-tune at 38 to 60% of the cost of exhaustive fine-tuning, with near-oracle quality.</a:t>
            </a:r>
            <a:endParaRPr lang="en-US" sz="1600" dirty="0"/>
          </a:p>
        </p:txBody>
      </p:sp>
      <p:sp>
        <p:nvSpPr>
          <p:cNvPr id="13" name="Shape 11"/>
          <p:cNvSpPr/>
          <p:nvPr/>
        </p:nvSpPr>
        <p:spPr>
          <a:xfrm>
            <a:off x="812800" y="4421336"/>
            <a:ext cx="10566400" cy="0"/>
          </a:xfrm>
          <a:prstGeom prst="line">
            <a:avLst/>
          </a:prstGeom>
          <a:noFill/>
          <a:ln w="6350">
            <a:solidFill>
              <a:srgbClr val="D9D9D2"/>
            </a:solidFill>
            <a:prstDash val="solid"/>
          </a:ln>
        </p:spPr>
      </p:sp>
      <p:sp>
        <p:nvSpPr>
          <p:cNvPr id="14" name="Shape 12"/>
          <p:cNvSpPr/>
          <p:nvPr/>
        </p:nvSpPr>
        <p:spPr>
          <a:xfrm>
            <a:off x="812800" y="5250607"/>
            <a:ext cx="10566400" cy="0"/>
          </a:xfrm>
          <a:prstGeom prst="line">
            <a:avLst/>
          </a:prstGeom>
          <a:noFill/>
          <a:ln w="6350">
            <a:solidFill>
              <a:srgbClr val="D9D9D2"/>
            </a:solidFill>
            <a:prstDash val="solid"/>
          </a:ln>
        </p:spPr>
      </p:sp>
      <p:sp>
        <p:nvSpPr>
          <p:cNvPr id="15" name="Text 13"/>
          <p:cNvSpPr/>
          <p:nvPr/>
        </p:nvSpPr>
        <p:spPr>
          <a:xfrm>
            <a:off x="812800" y="4551511"/>
            <a:ext cx="274701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Agent as consumer</a:t>
            </a:r>
            <a:endParaRPr lang="en-US" sz="1600" dirty="0"/>
          </a:p>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Keynote</a:t>
            </a:r>
            <a:endParaRPr lang="en-US" sz="1600" dirty="0"/>
          </a:p>
        </p:txBody>
      </p:sp>
      <p:sp>
        <p:nvSpPr>
          <p:cNvPr id="16" name="Text 14"/>
          <p:cNvSpPr/>
          <p:nvPr/>
        </p:nvSpPr>
        <p:spPr>
          <a:xfrm>
            <a:off x="3784600" y="4557861"/>
            <a:ext cx="78224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F57"/>
                </a:solidFill>
                <a:latin typeface="Public Sans" pitchFamily="34" charset="0"/>
                <a:ea typeface="Public Sans" pitchFamily="34" charset="-122"/>
                <a:cs typeface="Public Sans" pitchFamily="34" charset="-120"/>
              </a:rPr>
              <a:t>What changes when the consumer of recommendations is an agent acting on the user's behalf?</a:t>
            </a:r>
            <a:endParaRPr lang="en-US" sz="1600" dirty="0"/>
          </a:p>
        </p:txBody>
      </p:sp>
      <p:sp>
        <p:nvSpPr>
          <p:cNvPr id="17" name="Text 15"/>
          <p:cNvSpPr/>
          <p:nvPr/>
        </p:nvSpPr>
        <p:spPr>
          <a:xfrm>
            <a:off x="812800" y="6238280"/>
            <a:ext cx="9414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Sources: LLM-PRIT · Self-Evolving Recommendation System · Which LLM to Fine-Tune · Who Are We Recommending To</a:t>
            </a:r>
            <a:endParaRPr lang="en-US" sz="1200" dirty="0"/>
          </a:p>
        </p:txBody>
      </p:sp>
      <p:sp>
        <p:nvSpPr>
          <p:cNvPr id="18" name="Text 16"/>
          <p:cNvSpPr/>
          <p:nvPr/>
        </p:nvSpPr>
        <p:spPr>
          <a:xfrm>
            <a:off x="11229677" y="6238280"/>
            <a:ext cx="1495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SPOTLIGHT · TRAVEL</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In travel, a wrong recommendation costs the user time and money</a:t>
            </a:r>
            <a:endParaRPr lang="en-US" sz="3200" dirty="0"/>
          </a:p>
        </p:txBody>
      </p:sp>
      <p:sp>
        <p:nvSpPr>
          <p:cNvPr id="4" name="Text 2"/>
          <p:cNvSpPr/>
          <p:nvPr/>
        </p:nvSpPr>
        <p:spPr>
          <a:xfrm>
            <a:off x="812800" y="237738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AMAP HOMEPAGE</a:t>
            </a:r>
            <a:endParaRPr lang="en-US" sz="1200" dirty="0"/>
          </a:p>
        </p:txBody>
      </p:sp>
      <p:sp>
        <p:nvSpPr>
          <p:cNvPr id="5" name="Text 3"/>
          <p:cNvSpPr/>
          <p:nvPr/>
        </p:nvSpPr>
        <p:spPr>
          <a:xfrm>
            <a:off x="812800" y="2628801"/>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One destination shown, no fallback. The top result must be right.</a:t>
            </a:r>
            <a:endParaRPr lang="en-US" sz="1600" dirty="0"/>
          </a:p>
        </p:txBody>
      </p:sp>
      <p:sp>
        <p:nvSpPr>
          <p:cNvPr id="6" name="Text 4"/>
          <p:cNvSpPr/>
          <p:nvPr/>
        </p:nvSpPr>
        <p:spPr>
          <a:xfrm>
            <a:off x="812800" y="3360241"/>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WELFARE-ORIENTED RECOMMENDATIONS</a:t>
            </a:r>
            <a:endParaRPr lang="en-US" sz="1200" dirty="0"/>
          </a:p>
        </p:txBody>
      </p:sp>
      <p:sp>
        <p:nvSpPr>
          <p:cNvPr id="7" name="Text 5"/>
          <p:cNvSpPr/>
          <p:nvPr/>
        </p:nvSpPr>
        <p:spPr>
          <a:xfrm>
            <a:off x="812800" y="3611662"/>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A good match can still leave the user worse off if the activity is far away.</a:t>
            </a:r>
            <a:endParaRPr lang="en-US" sz="1600" dirty="0"/>
          </a:p>
        </p:txBody>
      </p:sp>
      <p:sp>
        <p:nvSpPr>
          <p:cNvPr id="8" name="Text 6"/>
          <p:cNvSpPr/>
          <p:nvPr/>
        </p:nvSpPr>
        <p:spPr>
          <a:xfrm>
            <a:off x="812800" y="4343102"/>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FD8"/>
                </a:solidFill>
                <a:latin typeface="Public Sans" pitchFamily="34" charset="0"/>
                <a:ea typeface="Public Sans" pitchFamily="34" charset="-122"/>
                <a:cs typeface="Public Sans" pitchFamily="34" charset="-120"/>
              </a:rPr>
              <a:t>AMAP ROUTE RANKING</a:t>
            </a:r>
            <a:endParaRPr lang="en-US" sz="1200" dirty="0"/>
          </a:p>
        </p:txBody>
      </p:sp>
      <p:sp>
        <p:nvSpPr>
          <p:cNvPr id="9" name="Text 7"/>
          <p:cNvSpPr/>
          <p:nvPr/>
        </p:nvSpPr>
        <p:spPr>
          <a:xfrm>
            <a:off x="812800" y="4594523"/>
            <a:ext cx="54940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6181D"/>
                </a:solidFill>
                <a:latin typeface="Public Sans" pitchFamily="34" charset="0"/>
                <a:ea typeface="Public Sans" pitchFamily="34" charset="-122"/>
                <a:cs typeface="Public Sans" pitchFamily="34" charset="-120"/>
              </a:rPr>
              <a:t>Compare where and why candidate routes differ, not just score each one independently.</a:t>
            </a:r>
            <a:endParaRPr lang="en-US" sz="1600" dirty="0"/>
          </a:p>
        </p:txBody>
      </p:sp>
      <p:pic>
        <p:nvPicPr>
          <p:cNvPr id="10" name="Image 0" descr="Amap talk slide: high homepage traffic makes top-1 accuracy critical; one result, no fallback">    </p:cNvPr>
          <p:cNvPicPr>
            <a:picLocks noChangeAspect="1"/>
          </p:cNvPicPr>
          <p:nvPr/>
        </p:nvPicPr>
        <p:blipFill>
          <a:blip r:embed="rId1"/>
          <a:srcRect l="0" r="0" t="-58" b="-58"/>
          <a:stretch/>
        </p:blipFill>
        <p:spPr>
          <a:xfrm>
            <a:off x="6553200" y="2377380"/>
            <a:ext cx="4826000" cy="2717800"/>
          </a:xfrm>
          <a:prstGeom prst="rect">
            <a:avLst/>
          </a:prstGeom>
        </p:spPr>
      </p:pic>
      <p:sp>
        <p:nvSpPr>
          <p:cNvPr id="11" name="Text 8"/>
          <p:cNvSpPr/>
          <p:nvPr/>
        </p:nvSpPr>
        <p:spPr>
          <a:xfrm>
            <a:off x="812800" y="6238280"/>
            <a:ext cx="63219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Photo: Guess Where You Go, generative next-POI recommendation in Amap</a:t>
            </a:r>
            <a:endParaRPr lang="en-US" sz="1200" dirty="0"/>
          </a:p>
        </p:txBody>
      </p:sp>
      <p:sp>
        <p:nvSpPr>
          <p:cNvPr id="12" name="Text 9"/>
          <p:cNvSpPr/>
          <p:nvPr/>
        </p:nvSpPr>
        <p:spPr>
          <a:xfrm>
            <a:off x="11233200" y="6238280"/>
            <a:ext cx="146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0FF"/>
                </a:solidFill>
                <a:latin typeface="Public Sans" pitchFamily="34" charset="0"/>
                <a:ea typeface="Public Sans" pitchFamily="34" charset="-122"/>
                <a:cs typeface="Public Sans" pitchFamily="34" charset="-120"/>
              </a:rPr>
              <a:t>A FIRST LOOK AHEAD</a:t>
            </a:r>
            <a:endParaRPr lang="en-US" sz="1200" dirty="0"/>
          </a:p>
        </p:txBody>
      </p:sp>
      <p:sp>
        <p:nvSpPr>
          <p:cNvPr id="3" name="Text 1"/>
          <p:cNvSpPr/>
          <p:nvPr>
            <p:ph type="title"/>
          </p:nvPr>
        </p:nvSpPr>
        <p:spPr>
          <a:xfrm>
            <a:off x="812800" y="1127720"/>
            <a:ext cx="9156700" cy="91946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AFAF7"/>
                </a:solidFill>
                <a:latin typeface="Public Sans" pitchFamily="34" charset="0"/>
                <a:ea typeface="Public Sans" pitchFamily="34" charset="-122"/>
                <a:cs typeface="Public Sans" pitchFamily="34" charset="-120"/>
              </a:rPr>
              <a:t>From ranking what users clicked to learning what users want</a:t>
            </a:r>
            <a:endParaRPr lang="en-US" sz="3200" dirty="0"/>
          </a:p>
        </p:txBody>
      </p:sp>
      <p:sp>
        <p:nvSpPr>
          <p:cNvPr id="4" name="Shape 2"/>
          <p:cNvSpPr/>
          <p:nvPr/>
        </p:nvSpPr>
        <p:spPr>
          <a:xfrm>
            <a:off x="812800" y="3126135"/>
            <a:ext cx="5283200" cy="0"/>
          </a:xfrm>
          <a:prstGeom prst="line">
            <a:avLst/>
          </a:prstGeom>
          <a:noFill/>
          <a:ln w="6350">
            <a:solidFill>
              <a:srgbClr val="454A54"/>
            </a:solidFill>
            <a:prstDash val="solid"/>
          </a:ln>
        </p:spPr>
      </p:sp>
      <p:sp>
        <p:nvSpPr>
          <p:cNvPr id="5" name="Text 3"/>
          <p:cNvSpPr/>
          <p:nvPr/>
        </p:nvSpPr>
        <p:spPr>
          <a:xfrm>
            <a:off x="812800" y="3281710"/>
            <a:ext cx="54416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7"/>
                </a:solidFill>
                <a:latin typeface="Public Sans" pitchFamily="34" charset="0"/>
                <a:ea typeface="Public Sans" pitchFamily="34" charset="-122"/>
                <a:cs typeface="Public Sans" pitchFamily="34" charset="-120"/>
              </a:rPr>
              <a:t>A shared item language</a:t>
            </a:r>
            <a:endParaRPr lang="en-US" sz="1600" dirty="0"/>
          </a:p>
        </p:txBody>
      </p:sp>
      <p:sp>
        <p:nvSpPr>
          <p:cNvPr id="6" name="Text 4"/>
          <p:cNvSpPr/>
          <p:nvPr/>
        </p:nvSpPr>
        <p:spPr>
          <a:xfrm>
            <a:off x="812800" y="3576340"/>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DC6"/>
                </a:solidFill>
                <a:latin typeface="Public Sans" pitchFamily="34" charset="0"/>
                <a:ea typeface="Public Sans" pitchFamily="34" charset="-122"/>
                <a:cs typeface="Public Sans" pitchFamily="34" charset="-120"/>
              </a:rPr>
              <a:t>Semantic IDs across retrieval and LLMs</a:t>
            </a:r>
            <a:endParaRPr lang="en-US" sz="1200" dirty="0"/>
          </a:p>
        </p:txBody>
      </p:sp>
      <p:sp>
        <p:nvSpPr>
          <p:cNvPr id="7" name="Shape 5"/>
          <p:cNvSpPr/>
          <p:nvPr/>
        </p:nvSpPr>
        <p:spPr>
          <a:xfrm>
            <a:off x="6096000" y="3126135"/>
            <a:ext cx="5283200" cy="0"/>
          </a:xfrm>
          <a:prstGeom prst="line">
            <a:avLst/>
          </a:prstGeom>
          <a:noFill/>
          <a:ln w="6350">
            <a:solidFill>
              <a:srgbClr val="454A54"/>
            </a:solidFill>
            <a:prstDash val="solid"/>
          </a:ln>
        </p:spPr>
      </p:sp>
      <p:sp>
        <p:nvSpPr>
          <p:cNvPr id="8" name="Text 6"/>
          <p:cNvSpPr/>
          <p:nvPr/>
        </p:nvSpPr>
        <p:spPr>
          <a:xfrm>
            <a:off x="6096000" y="3281710"/>
            <a:ext cx="54416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7"/>
                </a:solidFill>
                <a:latin typeface="Public Sans" pitchFamily="34" charset="0"/>
                <a:ea typeface="Public Sans" pitchFamily="34" charset="-122"/>
                <a:cs typeface="Public Sans" pitchFamily="34" charset="-120"/>
              </a:rPr>
              <a:t>Exploration that counts</a:t>
            </a:r>
            <a:endParaRPr lang="en-US" sz="1600" dirty="0"/>
          </a:p>
        </p:txBody>
      </p:sp>
      <p:sp>
        <p:nvSpPr>
          <p:cNvPr id="9" name="Text 7"/>
          <p:cNvSpPr/>
          <p:nvPr/>
        </p:nvSpPr>
        <p:spPr>
          <a:xfrm>
            <a:off x="6096000" y="3576340"/>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DC6"/>
                </a:solidFill>
                <a:latin typeface="Public Sans" pitchFamily="34" charset="0"/>
                <a:ea typeface="Public Sans" pitchFamily="34" charset="-122"/>
                <a:cs typeface="Public Sans" pitchFamily="34" charset="-120"/>
              </a:rPr>
              <a:t>Measured and rewarded, not left to chance</a:t>
            </a:r>
            <a:endParaRPr lang="en-US" sz="1200" dirty="0"/>
          </a:p>
        </p:txBody>
      </p:sp>
      <p:sp>
        <p:nvSpPr>
          <p:cNvPr id="10" name="Shape 8"/>
          <p:cNvSpPr/>
          <p:nvPr/>
        </p:nvSpPr>
        <p:spPr>
          <a:xfrm>
            <a:off x="812800" y="3792835"/>
            <a:ext cx="5283200" cy="0"/>
          </a:xfrm>
          <a:prstGeom prst="line">
            <a:avLst/>
          </a:prstGeom>
          <a:noFill/>
          <a:ln w="6350">
            <a:solidFill>
              <a:srgbClr val="454A54"/>
            </a:solidFill>
            <a:prstDash val="solid"/>
          </a:ln>
        </p:spPr>
      </p:sp>
      <p:sp>
        <p:nvSpPr>
          <p:cNvPr id="11" name="Text 9"/>
          <p:cNvSpPr/>
          <p:nvPr/>
        </p:nvSpPr>
        <p:spPr>
          <a:xfrm>
            <a:off x="812800" y="3948410"/>
            <a:ext cx="54416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7"/>
                </a:solidFill>
                <a:latin typeface="Public Sans" pitchFamily="34" charset="0"/>
                <a:ea typeface="Public Sans" pitchFamily="34" charset="-122"/>
                <a:cs typeface="Public Sans" pitchFamily="34" charset="-120"/>
              </a:rPr>
              <a:t>Online proof for every release</a:t>
            </a:r>
            <a:endParaRPr lang="en-US" sz="1600" dirty="0"/>
          </a:p>
        </p:txBody>
      </p:sp>
      <p:sp>
        <p:nvSpPr>
          <p:cNvPr id="12" name="Text 10"/>
          <p:cNvSpPr/>
          <p:nvPr/>
        </p:nvSpPr>
        <p:spPr>
          <a:xfrm>
            <a:off x="812800" y="4243040"/>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DC6"/>
                </a:solidFill>
                <a:latin typeface="Public Sans" pitchFamily="34" charset="0"/>
                <a:ea typeface="Public Sans" pitchFamily="34" charset="-122"/>
                <a:cs typeface="Public Sans" pitchFamily="34" charset="-120"/>
              </a:rPr>
              <a:t>A/B testing as the standard</a:t>
            </a:r>
            <a:endParaRPr lang="en-US" sz="1200" dirty="0"/>
          </a:p>
        </p:txBody>
      </p:sp>
      <p:sp>
        <p:nvSpPr>
          <p:cNvPr id="13" name="Shape 11"/>
          <p:cNvSpPr/>
          <p:nvPr/>
        </p:nvSpPr>
        <p:spPr>
          <a:xfrm>
            <a:off x="6096000" y="3792835"/>
            <a:ext cx="5283200" cy="0"/>
          </a:xfrm>
          <a:prstGeom prst="line">
            <a:avLst/>
          </a:prstGeom>
          <a:noFill/>
          <a:ln w="6350">
            <a:solidFill>
              <a:srgbClr val="454A54"/>
            </a:solidFill>
            <a:prstDash val="solid"/>
          </a:ln>
        </p:spPr>
      </p:sp>
      <p:sp>
        <p:nvSpPr>
          <p:cNvPr id="14" name="Text 12"/>
          <p:cNvSpPr/>
          <p:nvPr/>
        </p:nvSpPr>
        <p:spPr>
          <a:xfrm>
            <a:off x="6096000" y="3948410"/>
            <a:ext cx="54416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7"/>
                </a:solidFill>
                <a:latin typeface="Public Sans" pitchFamily="34" charset="0"/>
                <a:ea typeface="Public Sans" pitchFamily="34" charset="-122"/>
                <a:cs typeface="Public Sans" pitchFamily="34" charset="-120"/>
              </a:rPr>
              <a:t>Agents, with people in control</a:t>
            </a:r>
            <a:endParaRPr lang="en-US" sz="1600" dirty="0"/>
          </a:p>
        </p:txBody>
      </p:sp>
      <p:sp>
        <p:nvSpPr>
          <p:cNvPr id="15" name="Text 13"/>
          <p:cNvSpPr/>
          <p:nvPr/>
        </p:nvSpPr>
        <p:spPr>
          <a:xfrm>
            <a:off x="6096000" y="4243040"/>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DC6"/>
                </a:solidFill>
                <a:latin typeface="Public Sans" pitchFamily="34" charset="0"/>
                <a:ea typeface="Public Sans" pitchFamily="34" charset="-122"/>
                <a:cs typeface="Public Sans" pitchFamily="34" charset="-120"/>
              </a:rPr>
              <a:t>Conversation and automation that adapt to the user</a:t>
            </a:r>
            <a:endParaRPr lang="en-US" sz="1200" dirty="0"/>
          </a:p>
        </p:txBody>
      </p:sp>
      <p:sp>
        <p:nvSpPr>
          <p:cNvPr id="16" name="Text 14"/>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8FB0FF"/>
                </a:solidFill>
                <a:latin typeface="Public Sans" pitchFamily="34" charset="0"/>
                <a:ea typeface="Public Sans" pitchFamily="34" charset="-122"/>
                <a:cs typeface="Public Sans" pitchFamily="34" charset="-120"/>
              </a:rPr>
              <a:t>Directional for now. Over the next few weeks I will work out how each applies to our day to day.</a:t>
            </a:r>
            <a:endParaRPr lang="en-US" sz="1600" dirty="0"/>
          </a:p>
        </p:txBody>
      </p:sp>
      <p:sp>
        <p:nvSpPr>
          <p:cNvPr id="17" name="Text 15"/>
          <p:cNvSpPr/>
          <p:nvPr/>
        </p:nvSpPr>
        <p:spPr>
          <a:xfrm>
            <a:off x="11173123" y="6238280"/>
            <a:ext cx="20607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F99"/>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Public Sans" pitchFamily="34" charset="0"/>
                <a:ea typeface="Public Sans" pitchFamily="34" charset="-122"/>
                <a:cs typeface="Public Sans" pitchFamily="34" charset="-120"/>
              </a:rPr>
              <a:t>CLOSING</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Public Sans" pitchFamily="34" charset="0"/>
                <a:ea typeface="Public Sans" pitchFamily="34" charset="-122"/>
                <a:cs typeface="Public Sans" pitchFamily="34" charset="-120"/>
              </a:rPr>
              <a:t>What I am following up on</a:t>
            </a:r>
            <a:endParaRPr lang="en-US" sz="3200" dirty="0"/>
          </a:p>
        </p:txBody>
      </p:sp>
      <p:sp>
        <p:nvSpPr>
          <p:cNvPr id="4" name="Shape 2"/>
          <p:cNvSpPr/>
          <p:nvPr/>
        </p:nvSpPr>
        <p:spPr>
          <a:xfrm>
            <a:off x="812800" y="1984325"/>
            <a:ext cx="10566400" cy="0"/>
          </a:xfrm>
          <a:prstGeom prst="line">
            <a:avLst/>
          </a:prstGeom>
          <a:noFill/>
          <a:ln w="6350">
            <a:solidFill>
              <a:srgbClr val="D9D9D2"/>
            </a:solidFill>
            <a:prstDash val="solid"/>
          </a:ln>
        </p:spPr>
      </p:sp>
      <p:sp>
        <p:nvSpPr>
          <p:cNvPr id="5" name="Text 3"/>
          <p:cNvSpPr/>
          <p:nvPr/>
        </p:nvSpPr>
        <p:spPr>
          <a:xfrm>
            <a:off x="812800" y="2165300"/>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Read</a:t>
            </a:r>
            <a:endParaRPr lang="en-US" sz="1600" dirty="0"/>
          </a:p>
        </p:txBody>
      </p:sp>
      <p:sp>
        <p:nvSpPr>
          <p:cNvPr id="6" name="Text 4"/>
          <p:cNvSpPr/>
          <p:nvPr/>
        </p:nvSpPr>
        <p:spPr>
          <a:xfrm>
            <a:off x="5054600" y="2165300"/>
            <a:ext cx="65143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MTGR: a generative recommendation framework at industrial scale</a:t>
            </a:r>
            <a:endParaRPr lang="en-US" sz="1600" dirty="0"/>
          </a:p>
        </p:txBody>
      </p:sp>
      <p:sp>
        <p:nvSpPr>
          <p:cNvPr id="7" name="Shape 5"/>
          <p:cNvSpPr/>
          <p:nvPr/>
        </p:nvSpPr>
        <p:spPr>
          <a:xfrm>
            <a:off x="812800" y="2630736"/>
            <a:ext cx="10566400" cy="0"/>
          </a:xfrm>
          <a:prstGeom prst="line">
            <a:avLst/>
          </a:prstGeom>
          <a:noFill/>
          <a:ln w="6350">
            <a:solidFill>
              <a:srgbClr val="D9D9D2"/>
            </a:solidFill>
            <a:prstDash val="solid"/>
          </a:ln>
        </p:spPr>
      </p:sp>
      <p:sp>
        <p:nvSpPr>
          <p:cNvPr id="8" name="Text 6"/>
          <p:cNvSpPr/>
          <p:nvPr/>
        </p:nvSpPr>
        <p:spPr>
          <a:xfrm>
            <a:off x="812800" y="2811711"/>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Follow up</a:t>
            </a:r>
            <a:endParaRPr lang="en-US" sz="1600" dirty="0"/>
          </a:p>
        </p:txBody>
      </p:sp>
      <p:sp>
        <p:nvSpPr>
          <p:cNvPr id="9" name="Text 7"/>
          <p:cNvSpPr/>
          <p:nvPr/>
        </p:nvSpPr>
        <p:spPr>
          <a:xfrm>
            <a:off x="5054600" y="2811711"/>
            <a:ext cx="651433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Rank Mixer, from the MESH session</a:t>
            </a:r>
            <a:endParaRPr lang="en-US" sz="1600" dirty="0"/>
          </a:p>
        </p:txBody>
      </p:sp>
      <p:sp>
        <p:nvSpPr>
          <p:cNvPr id="10" name="Shape 8"/>
          <p:cNvSpPr/>
          <p:nvPr/>
        </p:nvSpPr>
        <p:spPr>
          <a:xfrm>
            <a:off x="812800" y="3277146"/>
            <a:ext cx="10566400" cy="0"/>
          </a:xfrm>
          <a:prstGeom prst="line">
            <a:avLst/>
          </a:prstGeom>
          <a:noFill/>
          <a:ln w="6350">
            <a:solidFill>
              <a:srgbClr val="D9D9D2"/>
            </a:solidFill>
            <a:prstDash val="solid"/>
          </a:ln>
        </p:spPr>
      </p:sp>
      <p:sp>
        <p:nvSpPr>
          <p:cNvPr id="11" name="Shape 9"/>
          <p:cNvSpPr/>
          <p:nvPr/>
        </p:nvSpPr>
        <p:spPr>
          <a:xfrm>
            <a:off x="812800" y="4208016"/>
            <a:ext cx="10566400" cy="0"/>
          </a:xfrm>
          <a:prstGeom prst="line">
            <a:avLst/>
          </a:prstGeom>
          <a:noFill/>
          <a:ln w="6350">
            <a:solidFill>
              <a:srgbClr val="D9D9D2"/>
            </a:solidFill>
            <a:prstDash val="solid"/>
          </a:ln>
        </p:spPr>
      </p:sp>
      <p:sp>
        <p:nvSpPr>
          <p:cNvPr id="12" name="Text 10"/>
          <p:cNvSpPr/>
          <p:nvPr/>
        </p:nvSpPr>
        <p:spPr>
          <a:xfrm>
            <a:off x="812800" y="3458121"/>
            <a:ext cx="40551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81D"/>
                </a:solidFill>
                <a:latin typeface="Public Sans" pitchFamily="34" charset="0"/>
                <a:ea typeface="Public Sans" pitchFamily="34" charset="-122"/>
                <a:cs typeface="Public Sans" pitchFamily="34" charset="-120"/>
              </a:rPr>
              <a:t>Request</a:t>
            </a:r>
            <a:endParaRPr lang="en-US" sz="1600" dirty="0"/>
          </a:p>
        </p:txBody>
      </p:sp>
      <p:sp>
        <p:nvSpPr>
          <p:cNvPr id="13" name="Text 11"/>
          <p:cNvSpPr/>
          <p:nvPr/>
        </p:nvSpPr>
        <p:spPr>
          <a:xfrm>
            <a:off x="5054600" y="3458121"/>
            <a:ext cx="651433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The write-up on catalog normalization with agents and fine-tuned judge models</a:t>
            </a:r>
            <a:endParaRPr lang="en-US" sz="1600" dirty="0"/>
          </a:p>
        </p:txBody>
      </p:sp>
      <p:sp>
        <p:nvSpPr>
          <p:cNvPr id="14" name="Text 12"/>
          <p:cNvSpPr/>
          <p:nvPr/>
        </p:nvSpPr>
        <p:spPr>
          <a:xfrm>
            <a:off x="812800" y="461759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4FD8"/>
                </a:solidFill>
                <a:latin typeface="Public Sans" pitchFamily="34" charset="0"/>
                <a:ea typeface="Public Sans" pitchFamily="34" charset="-122"/>
                <a:cs typeface="Public Sans" pitchFamily="34" charset="-120"/>
              </a:rPr>
              <a:t>Thank you. Questions?</a:t>
            </a:r>
            <a:endParaRPr lang="en-US" sz="1600" dirty="0"/>
          </a:p>
        </p:txBody>
      </p:sp>
      <p:sp>
        <p:nvSpPr>
          <p:cNvPr id="15" name="Text 13"/>
          <p:cNvSpPr/>
          <p:nvPr/>
        </p:nvSpPr>
        <p:spPr>
          <a:xfrm>
            <a:off x="812800" y="6238280"/>
            <a:ext cx="45737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Paper links and full session notes available on request</a:t>
            </a:r>
            <a:endParaRPr lang="en-US" sz="1200" dirty="0"/>
          </a:p>
        </p:txBody>
      </p:sp>
      <p:sp>
        <p:nvSpPr>
          <p:cNvPr id="16" name="Text 14"/>
          <p:cNvSpPr/>
          <p:nvPr/>
        </p:nvSpPr>
        <p:spPr>
          <a:xfrm>
            <a:off x="11204377" y="6238280"/>
            <a:ext cx="1748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78"/>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theme/theme1.xml><?xml version="1.0" encoding="utf-8"?>
<a:theme xmlns:a="http://schemas.openxmlformats.org/drawingml/2006/main" name="RecSys 2026 Takeaways">
  <a:themeElements>
    <a:clrScheme name="RecSys 2026 Takeaways">
      <a:dk1>
        <a:srgbClr val="16181D"/>
      </a:dk1>
      <a:lt1>
        <a:srgbClr val="FAFAF7"/>
      </a:lt1>
      <a:dk2>
        <a:srgbClr val="4F5154"/>
      </a:dk2>
      <a:lt2>
        <a:srgbClr val="E3E3E1"/>
      </a:lt2>
      <a:accent1>
        <a:srgbClr val="1F4FD8"/>
      </a:accent1>
      <a:accent2>
        <a:srgbClr val="8FB0FF"/>
      </a:accent2>
      <a:accent3>
        <a:srgbClr val="4A4F57"/>
      </a:accent3>
      <a:accent4>
        <a:srgbClr val="6B7078"/>
      </a:accent4>
      <a:accent5>
        <a:srgbClr val="B9BDC6"/>
      </a:accent5>
      <a:accent6>
        <a:srgbClr val="8A8F99"/>
      </a:accent6>
      <a:hlink>
        <a:srgbClr val="0563C1"/>
      </a:hlink>
      <a:folHlink>
        <a:srgbClr val="954F72"/>
      </a:folHlink>
    </a:clrScheme>
    <a:fontScheme name="RecSys 2026 Takeaways">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RecSys 2026 Takeaways</dc:title>
  <dc:subject/>
  <dc:creator/>
  <cp:lastModifiedBy/>
  <cp:revision>1</cp:revision>
  <dcterms:created xsi:type="dcterms:W3CDTF">2026-10-06T10:07:59Z</dcterms:created>
  <dcterms:modified xsi:type="dcterms:W3CDTF">2026-10-06T10:07:59Z</dcterms:modified>
</cp:coreProperties>
</file>